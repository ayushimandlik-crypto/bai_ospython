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Play"/>
      <p:regular r:id="rId24"/>
      <p:bold r:id="rId25"/>
    </p:embeddedFont>
    <p:embeddedFont>
      <p:font typeface="Gill Sans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4">
          <p15:clr>
            <a:srgbClr val="A4A3A4"/>
          </p15:clr>
        </p15:guide>
        <p15:guide id="2" pos="7680">
          <p15:clr>
            <a:srgbClr val="A4A3A4"/>
          </p15:clr>
        </p15:guide>
        <p15:guide id="3" pos="266">
          <p15:clr>
            <a:srgbClr val="A4A3A4"/>
          </p15:clr>
        </p15:guide>
        <p15:guide id="4" pos="7428">
          <p15:clr>
            <a:srgbClr val="A4A3A4"/>
          </p15:clr>
        </p15:guide>
        <p15:guide id="5" orient="horz" pos="482">
          <p15:clr>
            <a:srgbClr val="A4A3A4"/>
          </p15:clr>
        </p15:guide>
        <p15:guide id="6" orient="horz" pos="278">
          <p15:clr>
            <a:srgbClr val="A4A3A4"/>
          </p15:clr>
        </p15:guide>
        <p15:guide id="7" orient="horz" pos="3964">
          <p15:clr>
            <a:srgbClr val="747775"/>
          </p15:clr>
        </p15:guide>
        <p15:guide id="8" pos="266">
          <p15:clr>
            <a:srgbClr val="747775"/>
          </p15:clr>
        </p15:guide>
        <p15:guide id="9" pos="2700">
          <p15:clr>
            <a:srgbClr val="747775"/>
          </p15:clr>
        </p15:guide>
        <p15:guide id="10" pos="5004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gDZNssVes27fmf3j9ywJZU5DjJ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4" orient="horz"/>
        <p:guide pos="7680"/>
        <p:guide pos="266"/>
        <p:guide pos="7428"/>
        <p:guide pos="482" orient="horz"/>
        <p:guide pos="278" orient="horz"/>
        <p:guide pos="3964" orient="horz"/>
        <p:guide pos="266"/>
        <p:guide pos="2700"/>
        <p:guide pos="50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illSans-regular.fntdata"/><Relationship Id="rId25" Type="http://schemas.openxmlformats.org/officeDocument/2006/relationships/font" Target="fonts/Play-bold.fntdata"/><Relationship Id="rId28" Type="http://customschemas.google.com/relationships/presentationmetadata" Target="metadata"/><Relationship Id="rId27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8e6608c2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378e6608c2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8e6608c24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78e6608c24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e62b0cad1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7e62b0cad1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8e598e889_2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78e598e889_2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8e6608c24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78e6608c24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e446973b3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e446973b3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7e446973b3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8e6608c24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78e6608c24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e446973b3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7e446973b3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e62b0cad1_3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7e62b0cad1_3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e62b0cad1_3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e62b0cad1_3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7e62b0cad1_3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e446973b3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7e446973b3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e446973b3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7e446973b3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e446973b3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7e446973b3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e446973b3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7e446973b3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8e6608c24_1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78e6608c24_1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e62b0cad1_3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7e62b0cad1_3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8e6608c24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78e6608c24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8e598e889_2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378e598e889_2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7"/>
          <p:cNvSpPr txBox="1"/>
          <p:nvPr>
            <p:ph idx="1" type="body"/>
          </p:nvPr>
        </p:nvSpPr>
        <p:spPr>
          <a:xfrm>
            <a:off x="838200" y="1825625"/>
            <a:ext cx="10944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type="title"/>
          </p:nvPr>
        </p:nvSpPr>
        <p:spPr>
          <a:xfrm>
            <a:off x="838200" y="633537"/>
            <a:ext cx="10944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7"/>
          <p:cNvSpPr txBox="1"/>
          <p:nvPr>
            <p:ph idx="12" type="sldNum"/>
          </p:nvPr>
        </p:nvSpPr>
        <p:spPr>
          <a:xfrm>
            <a:off x="838200" y="6292727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3f501ff6_4_304"/>
          <p:cNvSpPr txBox="1"/>
          <p:nvPr>
            <p:ph type="title"/>
          </p:nvPr>
        </p:nvSpPr>
        <p:spPr>
          <a:xfrm>
            <a:off x="7573108" y="2569063"/>
            <a:ext cx="4138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D071E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CD071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/>
        </p:nvSpPr>
        <p:spPr>
          <a:xfrm>
            <a:off x="422833" y="6477356"/>
            <a:ext cx="2853285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0B122"/>
                </a:solidFill>
                <a:latin typeface="Gill Sans"/>
                <a:ea typeface="Gill Sans"/>
                <a:cs typeface="Gill Sans"/>
                <a:sym typeface="Gill Sans"/>
              </a:rPr>
              <a:t>F.I N A N T I C  </a:t>
            </a:r>
            <a:r>
              <a:rPr b="1" i="0" lang="en-US" sz="800" u="none" cap="none" strike="noStrike">
                <a:solidFill>
                  <a:srgbClr val="AEAEAE"/>
                </a:solidFill>
                <a:latin typeface="Gill Sans"/>
                <a:ea typeface="Gill Sans"/>
                <a:cs typeface="Gill Sans"/>
                <a:sym typeface="Gill Sans"/>
              </a:rPr>
              <a:t>|  Highgate POC Pre-Walkthrough</a:t>
            </a:r>
            <a:endParaRPr b="0" i="0" sz="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36"/>
          <p:cNvSpPr txBox="1"/>
          <p:nvPr/>
        </p:nvSpPr>
        <p:spPr>
          <a:xfrm>
            <a:off x="4669357" y="6477355"/>
            <a:ext cx="2853285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C7C7C"/>
                </a:solidFill>
                <a:latin typeface="Arial"/>
                <a:ea typeface="Arial"/>
                <a:cs typeface="Arial"/>
                <a:sym typeface="Arial"/>
              </a:rPr>
              <a:t>Confidential &amp; Proprietary | © 2025 Finantic</a:t>
            </a:r>
            <a:endParaRPr b="0" i="0" sz="1100" u="none" cap="none" strike="noStrike">
              <a:solidFill>
                <a:srgbClr val="7C7C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6"/>
          <p:cNvSpPr txBox="1"/>
          <p:nvPr/>
        </p:nvSpPr>
        <p:spPr>
          <a:xfrm>
            <a:off x="11066583" y="6321178"/>
            <a:ext cx="7313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-up of couple closing a deal with their financial advisor and signing paperwork during the meeting." id="87" name="Google Shape;87;g378e6608c24_1_0"/>
          <p:cNvPicPr preferRelativeResize="0"/>
          <p:nvPr/>
        </p:nvPicPr>
        <p:blipFill rotWithShape="1">
          <a:blip r:embed="rId3">
            <a:alphaModFix/>
          </a:blip>
          <a:srcRect b="15130" l="0" r="-100" t="0"/>
          <a:stretch/>
        </p:blipFill>
        <p:spPr>
          <a:xfrm>
            <a:off x="-1944" y="0"/>
            <a:ext cx="12204619" cy="6895711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88" name="Google Shape;88;g378e6608c24_1_0"/>
          <p:cNvSpPr/>
          <p:nvPr/>
        </p:nvSpPr>
        <p:spPr>
          <a:xfrm>
            <a:off x="838200" y="838200"/>
            <a:ext cx="10622400" cy="5257800"/>
          </a:xfrm>
          <a:prstGeom prst="rect">
            <a:avLst/>
          </a:prstGeom>
          <a:solidFill>
            <a:srgbClr val="FFFFFF">
              <a:alpha val="9254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78e6608c24_1_0"/>
          <p:cNvSpPr txBox="1"/>
          <p:nvPr/>
        </p:nvSpPr>
        <p:spPr>
          <a:xfrm>
            <a:off x="4663350" y="3614918"/>
            <a:ext cx="2865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g378e6608c2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38" y="2936395"/>
            <a:ext cx="2277125" cy="43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8e6608c24_1_0"/>
          <p:cNvSpPr txBox="1"/>
          <p:nvPr/>
        </p:nvSpPr>
        <p:spPr>
          <a:xfrm>
            <a:off x="4716750" y="3815025"/>
            <a:ext cx="28653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757575"/>
                </a:solidFill>
              </a:rPr>
              <a:t>Customer Engagement</a:t>
            </a:r>
            <a:endParaRPr sz="1800">
              <a:solidFill>
                <a:srgbClr val="757575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757575"/>
                </a:solidFill>
              </a:rPr>
              <a:t>Scope and Timelines</a:t>
            </a:r>
            <a:endParaRPr sz="1800">
              <a:solidFill>
                <a:srgbClr val="757575"/>
              </a:solidFill>
            </a:endParaRPr>
          </a:p>
        </p:txBody>
      </p:sp>
      <p:pic>
        <p:nvPicPr>
          <p:cNvPr id="92" name="Google Shape;92;g378e6608c24_1_0"/>
          <p:cNvPicPr preferRelativeResize="0"/>
          <p:nvPr/>
        </p:nvPicPr>
        <p:blipFill rotWithShape="1">
          <a:blip r:embed="rId5">
            <a:alphaModFix/>
          </a:blip>
          <a:srcRect b="37336" l="0" r="0" t="39079"/>
          <a:stretch/>
        </p:blipFill>
        <p:spPr>
          <a:xfrm>
            <a:off x="6072050" y="2713175"/>
            <a:ext cx="3743600" cy="8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8e6608c24_1_8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CD061D"/>
                </a:solidFill>
                <a:latin typeface="Arial"/>
                <a:ea typeface="Arial"/>
                <a:cs typeface="Arial"/>
                <a:sym typeface="Arial"/>
              </a:rPr>
              <a:t>AI Scope &amp; Solution for Highgate POC</a:t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78e6608c24_1_8"/>
          <p:cNvSpPr/>
          <p:nvPr/>
        </p:nvSpPr>
        <p:spPr>
          <a:xfrm>
            <a:off x="422275" y="1545000"/>
            <a:ext cx="5507100" cy="3699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2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g378e6608c24_1_8"/>
          <p:cNvSpPr/>
          <p:nvPr/>
        </p:nvSpPr>
        <p:spPr>
          <a:xfrm>
            <a:off x="6170000" y="1545009"/>
            <a:ext cx="5656500" cy="3699600"/>
          </a:xfrm>
          <a:prstGeom prst="rect">
            <a:avLst/>
          </a:prstGeom>
          <a:solidFill>
            <a:srgbClr val="D8D8D8">
              <a:alpha val="7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2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g378e6608c24_1_8"/>
          <p:cNvSpPr txBox="1"/>
          <p:nvPr/>
        </p:nvSpPr>
        <p:spPr>
          <a:xfrm>
            <a:off x="498475" y="1848875"/>
            <a:ext cx="55803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Processes in focus: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Income Journal (DIJ) Automation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Depository Account Reconciliations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78e6608c24_1_8"/>
          <p:cNvSpPr txBox="1"/>
          <p:nvPr/>
        </p:nvSpPr>
        <p:spPr>
          <a:xfrm>
            <a:off x="6374300" y="1848872"/>
            <a:ext cx="5247900" cy="2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Drivers: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revenue recognition speed &amp; accuracy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Strengthen fraud prevention and audit compliance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 manual workload and system dependencies (ProfitSword, Blackline)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scalability across 47+ Select Service properties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78e6608c24_1_8"/>
          <p:cNvSpPr txBox="1"/>
          <p:nvPr/>
        </p:nvSpPr>
        <p:spPr>
          <a:xfrm>
            <a:off x="346075" y="1012822"/>
            <a:ext cx="1022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Understanding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e62b0cad1_3_0"/>
          <p:cNvSpPr/>
          <p:nvPr/>
        </p:nvSpPr>
        <p:spPr>
          <a:xfrm>
            <a:off x="6151900" y="1039850"/>
            <a:ext cx="5507100" cy="5253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2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g37e62b0cad1_3_0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CD061D"/>
                </a:solidFill>
              </a:rPr>
              <a:t>PoC - Expected Outcome</a:t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7e62b0cad1_3_0"/>
          <p:cNvSpPr/>
          <p:nvPr/>
        </p:nvSpPr>
        <p:spPr>
          <a:xfrm>
            <a:off x="422275" y="1039850"/>
            <a:ext cx="5507100" cy="5253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2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g37e62b0cad1_3_0"/>
          <p:cNvSpPr txBox="1"/>
          <p:nvPr/>
        </p:nvSpPr>
        <p:spPr>
          <a:xfrm>
            <a:off x="773425" y="1228972"/>
            <a:ext cx="4804800" cy="4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2222"/>
                </a:solidFill>
              </a:rPr>
              <a:t>Daily Income Journal Automation</a:t>
            </a:r>
            <a:r>
              <a:rPr b="1" lang="en-US">
                <a:solidFill>
                  <a:schemeClr val="dk1"/>
                </a:solidFill>
              </a:rPr>
              <a:t> 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Goal:</a:t>
            </a:r>
            <a:r>
              <a:rPr lang="en-US"/>
              <a:t> </a:t>
            </a:r>
            <a:r>
              <a:rPr lang="en-US"/>
              <a:t>Take PMS report and prepare/post the accurate Journal Entry GL 7 segment (Oracle daily).</a:t>
            </a:r>
            <a:endParaRPr/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Ability to show “how to” for Audit purposes. </a:t>
            </a:r>
            <a:endParaRPr/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month end control – running MTD PMS Report and tie that to the MTD GL.</a:t>
            </a:r>
            <a:endParaRPr/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Available Resources:</a:t>
            </a:r>
            <a:endParaRPr/>
          </a:p>
          <a:p>
            <a:pPr indent="-285750" lvl="0" marL="4572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●"/>
            </a:pPr>
            <a:r>
              <a:rPr lang="en-US"/>
              <a:t>Mapping PMS codes to GL provided </a:t>
            </a:r>
            <a:endParaRPr/>
          </a:p>
          <a:p>
            <a:pPr indent="-285750" lvl="0" marL="4572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●"/>
            </a:pPr>
            <a:r>
              <a:rPr lang="en-US"/>
              <a:t>Daily PMS Reports – currently in ProfitSword</a:t>
            </a:r>
            <a:endParaRPr/>
          </a:p>
          <a:p>
            <a:pPr indent="-285750" lvl="0" marL="4572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Char char="●"/>
            </a:pPr>
            <a:r>
              <a:rPr lang="en-US"/>
              <a:t>Journal Entry from Oracle (post review) as “the answer key” </a:t>
            </a:r>
            <a:endParaRPr/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/>
              <a:t>Property.Department.Account.SubAccount.Intercompany.Future1.Future2</a:t>
            </a:r>
            <a:endParaRPr sz="1100"/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1" name="Google Shape;111;g37e62b0cad1_3_0"/>
          <p:cNvSpPr txBox="1"/>
          <p:nvPr/>
        </p:nvSpPr>
        <p:spPr>
          <a:xfrm>
            <a:off x="6503050" y="1200500"/>
            <a:ext cx="4804800" cy="47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22222"/>
                </a:solidFill>
              </a:rPr>
              <a:t>Depository Account Reconciliations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Goal:</a:t>
            </a:r>
            <a:r>
              <a:rPr lang="en-US"/>
              <a:t> Reconcile Bank Data (total for the day/month) to GL Data (day/month), identify and explain the variances and record GL entry (daily or monthly?). </a:t>
            </a:r>
            <a:endParaRPr/>
          </a:p>
          <a:p>
            <a:pPr indent="0" lvl="0" marL="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Daily Cash Reconciliation – with DITs identified</a:t>
            </a:r>
            <a:endParaRPr/>
          </a:p>
          <a:p>
            <a:pPr indent="0" lvl="0" marL="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Create/Post a JE for Sweeps </a:t>
            </a:r>
            <a:endParaRPr/>
          </a:p>
          <a:p>
            <a:pPr indent="0" lvl="0" marL="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Create/Post a JE  for Credit Card Fees/Bank Fees</a:t>
            </a:r>
            <a:endParaRPr/>
          </a:p>
          <a:p>
            <a:pPr indent="0" lvl="0" marL="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Reconciliation Cover Sheet - Bank Balance --- Reconciling Items ---- GL Balance</a:t>
            </a:r>
            <a:endParaRPr/>
          </a:p>
          <a:p>
            <a:pPr indent="0" lvl="0" marL="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Dashboard (% matches) by Transaction Type (Cash/Check, Wire, Credit Cards)</a:t>
            </a:r>
            <a:endParaRPr/>
          </a:p>
          <a:p>
            <a:pPr indent="0" lvl="0" marL="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Monthly Rec support/Cover page identifying/explaining the above for someone (workflow) to review/approve</a:t>
            </a:r>
            <a:endParaRPr/>
          </a:p>
          <a:p>
            <a:pPr indent="0" lvl="0" marL="0" marR="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/>
              <a:t>Support: By Property by Month available and stored for audit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8e598e889_2_147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rgbClr val="CD061D"/>
                </a:solidFill>
                <a:latin typeface="Arial"/>
                <a:ea typeface="Arial"/>
                <a:cs typeface="Arial"/>
                <a:sym typeface="Arial"/>
              </a:rPr>
              <a:t>Brief Solution Approach </a:t>
            </a:r>
            <a:endParaRPr b="0" i="0" sz="32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78e598e889_2_147"/>
          <p:cNvSpPr/>
          <p:nvPr/>
        </p:nvSpPr>
        <p:spPr>
          <a:xfrm>
            <a:off x="6444750" y="1436750"/>
            <a:ext cx="5347200" cy="48561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2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g378e598e889_2_147"/>
          <p:cNvSpPr txBox="1"/>
          <p:nvPr/>
        </p:nvSpPr>
        <p:spPr>
          <a:xfrm>
            <a:off x="6370000" y="1028275"/>
            <a:ext cx="520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Depository Account Reconciliations </a:t>
            </a:r>
            <a:endParaRPr b="1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78e598e889_2_147"/>
          <p:cNvSpPr txBox="1"/>
          <p:nvPr/>
        </p:nvSpPr>
        <p:spPr>
          <a:xfrm>
            <a:off x="6591288" y="1534515"/>
            <a:ext cx="5015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Always-on Matching: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Ingest BAI bank feeds and Oracle GL data daily (incl. weekends), auto-match transactions, and generate JEs with proof attached.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Matching Rules: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One enterprise reconciliation rules engine, versioned and governed, with property/region-specific overrides only where necessary.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Evidence-backed Reconciliation: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Each matched transaction linked to bank feed rows, GL postings, and reconciliation checksums for full audit traceability.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Monitoring: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Exceptions (unmatched items, duplicate entries, fraud-risk anomalies) routed to a same-day exception queue with SLAs for finance teams.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Decommission of Blackline: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Shift from Blackline to direct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Bank Feeds → AI Reconciliation Platform → Oracle ERP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enabling real-time cashflow reporting.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78e598e889_2_147"/>
          <p:cNvSpPr/>
          <p:nvPr/>
        </p:nvSpPr>
        <p:spPr>
          <a:xfrm>
            <a:off x="422450" y="1397575"/>
            <a:ext cx="5486400" cy="4910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1" name="Google Shape;121;g378e598e889_2_147"/>
          <p:cNvSpPr txBox="1"/>
          <p:nvPr/>
        </p:nvSpPr>
        <p:spPr>
          <a:xfrm>
            <a:off x="422275" y="1028275"/>
            <a:ext cx="555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Daily Income Journal Automation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78e598e889_2_147"/>
          <p:cNvSpPr txBox="1"/>
          <p:nvPr/>
        </p:nvSpPr>
        <p:spPr>
          <a:xfrm>
            <a:off x="665970" y="1622146"/>
            <a:ext cx="50907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Always-on DIJ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ingest PMS exports as soon as day closes (incl. weekends), reconcile, post, and attach proof automatically.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mapping service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one enterprise mapping, versioned and governed, property-overrides only where necessary.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Evidence-backed JE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every line links to source rows, files, and reconciliation checksums.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monitoring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anomalies routed to a same-day exception queue with SLAs.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Progressive decommission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ProfitSword as DIJ source; direct PMS → AI platform → Oracle; feed curated actuals to TM1.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8e6608c24_1_43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000" u="none" cap="none" strike="noStrike">
                <a:solidFill>
                  <a:srgbClr val="CD061D"/>
                </a:solidFill>
                <a:latin typeface="Arial"/>
                <a:ea typeface="Arial"/>
                <a:cs typeface="Arial"/>
                <a:sym typeface="Arial"/>
              </a:rPr>
              <a:t>Datasets from </a:t>
            </a:r>
            <a:r>
              <a:rPr lang="en-US" sz="3000">
                <a:solidFill>
                  <a:srgbClr val="CD061D"/>
                </a:solidFill>
              </a:rPr>
              <a:t>Highgate</a:t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78e6608c24_1_43"/>
          <p:cNvSpPr/>
          <p:nvPr/>
        </p:nvSpPr>
        <p:spPr>
          <a:xfrm>
            <a:off x="442925" y="1076550"/>
            <a:ext cx="5412000" cy="49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g378e6608c24_1_43"/>
          <p:cNvSpPr/>
          <p:nvPr/>
        </p:nvSpPr>
        <p:spPr>
          <a:xfrm>
            <a:off x="6115050" y="1076550"/>
            <a:ext cx="5412000" cy="4992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g378e6608c24_1_43"/>
          <p:cNvSpPr txBox="1"/>
          <p:nvPr/>
        </p:nvSpPr>
        <p:spPr>
          <a:xfrm>
            <a:off x="726800" y="1252375"/>
            <a:ext cx="3559500" cy="4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DIJ Automation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4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PMS daily exports (Fosse, Opera, Lightspeed, PEP)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4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ProfitSword mapping tables (historical)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4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Journal Entries (posted in Oracle)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4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Property metadata (IDs, brands, markets, GL structure)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2324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Anomalies</a:t>
            </a:r>
            <a:r>
              <a:rPr lang="en-US" sz="1500"/>
              <a:t> and Fraud Data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78e6608c24_1_43"/>
          <p:cNvSpPr txBox="1"/>
          <p:nvPr/>
        </p:nvSpPr>
        <p:spPr>
          <a:xfrm>
            <a:off x="6398925" y="1252375"/>
            <a:ext cx="3559500" cy="4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Depository Reconciliation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4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BAI files (bank feeds)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4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Oracle GL postings for depository accounts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24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reconciliation results from Blackline (auto vs manual)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78e6608c24_1_43"/>
          <p:cNvSpPr txBox="1"/>
          <p:nvPr/>
        </p:nvSpPr>
        <p:spPr>
          <a:xfrm>
            <a:off x="3387675" y="1902175"/>
            <a:ext cx="3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✅</a:t>
            </a:r>
            <a:endParaRPr/>
          </a:p>
        </p:txBody>
      </p:sp>
      <p:sp>
        <p:nvSpPr>
          <p:cNvPr id="133" name="Google Shape;133;g378e6608c24_1_43"/>
          <p:cNvSpPr txBox="1"/>
          <p:nvPr/>
        </p:nvSpPr>
        <p:spPr>
          <a:xfrm>
            <a:off x="3387675" y="2652384"/>
            <a:ext cx="3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✅</a:t>
            </a:r>
            <a:endParaRPr/>
          </a:p>
        </p:txBody>
      </p:sp>
      <p:sp>
        <p:nvSpPr>
          <p:cNvPr id="134" name="Google Shape;134;g378e6608c24_1_43"/>
          <p:cNvSpPr txBox="1"/>
          <p:nvPr/>
        </p:nvSpPr>
        <p:spPr>
          <a:xfrm>
            <a:off x="3387675" y="3417668"/>
            <a:ext cx="3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✅</a:t>
            </a:r>
            <a:endParaRPr/>
          </a:p>
        </p:txBody>
      </p:sp>
      <p:sp>
        <p:nvSpPr>
          <p:cNvPr id="135" name="Google Shape;135;g378e6608c24_1_43"/>
          <p:cNvSpPr txBox="1"/>
          <p:nvPr/>
        </p:nvSpPr>
        <p:spPr>
          <a:xfrm>
            <a:off x="3387675" y="4297773"/>
            <a:ext cx="3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✅</a:t>
            </a:r>
            <a:endParaRPr/>
          </a:p>
        </p:txBody>
      </p:sp>
      <p:sp>
        <p:nvSpPr>
          <p:cNvPr id="136" name="Google Shape;136;g378e6608c24_1_43"/>
          <p:cNvSpPr txBox="1"/>
          <p:nvPr/>
        </p:nvSpPr>
        <p:spPr>
          <a:xfrm>
            <a:off x="8986625" y="1776484"/>
            <a:ext cx="3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✅</a:t>
            </a:r>
            <a:endParaRPr/>
          </a:p>
        </p:txBody>
      </p:sp>
      <p:sp>
        <p:nvSpPr>
          <p:cNvPr id="137" name="Google Shape;137;g378e6608c24_1_43"/>
          <p:cNvSpPr txBox="1"/>
          <p:nvPr/>
        </p:nvSpPr>
        <p:spPr>
          <a:xfrm>
            <a:off x="8986625" y="2436136"/>
            <a:ext cx="3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✅</a:t>
            </a:r>
            <a:endParaRPr/>
          </a:p>
        </p:txBody>
      </p:sp>
      <p:sp>
        <p:nvSpPr>
          <p:cNvPr id="138" name="Google Shape;138;g378e6608c24_1_43"/>
          <p:cNvSpPr txBox="1"/>
          <p:nvPr/>
        </p:nvSpPr>
        <p:spPr>
          <a:xfrm>
            <a:off x="8986625" y="3222600"/>
            <a:ext cx="3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✅</a:t>
            </a:r>
            <a:endParaRPr/>
          </a:p>
        </p:txBody>
      </p:sp>
      <p:sp>
        <p:nvSpPr>
          <p:cNvPr id="139" name="Google Shape;139;g378e6608c24_1_43"/>
          <p:cNvSpPr txBox="1"/>
          <p:nvPr/>
        </p:nvSpPr>
        <p:spPr>
          <a:xfrm>
            <a:off x="3547125" y="4951302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❗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e446973b3_0_190"/>
          <p:cNvSpPr txBox="1"/>
          <p:nvPr>
            <p:ph type="title"/>
          </p:nvPr>
        </p:nvSpPr>
        <p:spPr>
          <a:xfrm>
            <a:off x="2795850" y="2543475"/>
            <a:ext cx="6600300" cy="8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D071E"/>
                </a:solidFill>
              </a:rPr>
              <a:t>PoC Delivery Timelines</a:t>
            </a:r>
            <a:endParaRPr sz="4800"/>
          </a:p>
        </p:txBody>
      </p:sp>
      <p:sp>
        <p:nvSpPr>
          <p:cNvPr id="146" name="Google Shape;146;g37e446973b3_0_1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g37e446973b3_0_190"/>
          <p:cNvSpPr txBox="1"/>
          <p:nvPr>
            <p:ph idx="1" type="body"/>
          </p:nvPr>
        </p:nvSpPr>
        <p:spPr>
          <a:xfrm>
            <a:off x="831750" y="3380775"/>
            <a:ext cx="10960200" cy="52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Parallel delivery for DIJ and Depository Account Reconciliation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8e6608c24_1_58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000">
                <a:solidFill>
                  <a:srgbClr val="CD071E"/>
                </a:solidFill>
              </a:rPr>
              <a:t>Daily Income Journal - Minimum (MVP PoC)</a:t>
            </a:r>
            <a:endParaRPr b="0" i="0" sz="3000" u="none" cap="none" strike="noStrike">
              <a:solidFill>
                <a:srgbClr val="CD07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78e6608c24_1_58"/>
          <p:cNvSpPr/>
          <p:nvPr/>
        </p:nvSpPr>
        <p:spPr>
          <a:xfrm>
            <a:off x="3430325" y="1854050"/>
            <a:ext cx="8361600" cy="1448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g378e6608c24_1_58"/>
          <p:cNvSpPr txBox="1"/>
          <p:nvPr/>
        </p:nvSpPr>
        <p:spPr>
          <a:xfrm>
            <a:off x="3576874" y="1923162"/>
            <a:ext cx="78561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/>
              <a:t>Data Ingestion and Parsing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Setup Ingestion Pipeline for .pdf/txt documents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Normalize data formats and </a:t>
            </a:r>
            <a:r>
              <a:rPr lang="en-US"/>
              <a:t>validate</a:t>
            </a:r>
            <a:r>
              <a:rPr lang="en-US"/>
              <a:t> accuracy against </a:t>
            </a:r>
            <a:r>
              <a:rPr lang="en-US"/>
              <a:t>existing</a:t>
            </a:r>
            <a:r>
              <a:rPr lang="en-US"/>
              <a:t> ProfitSword reports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Data Preparation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Validating, mapping and preprocessing the data to be AI model development ready</a:t>
            </a:r>
            <a:endParaRPr/>
          </a:p>
        </p:txBody>
      </p:sp>
      <p:sp>
        <p:nvSpPr>
          <p:cNvPr id="155" name="Google Shape;155;g378e6608c24_1_58"/>
          <p:cNvSpPr txBox="1"/>
          <p:nvPr/>
        </p:nvSpPr>
        <p:spPr>
          <a:xfrm>
            <a:off x="411194" y="1146050"/>
            <a:ext cx="946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Goal: </a:t>
            </a:r>
            <a:r>
              <a:rPr lang="en-US" sz="1600">
                <a:solidFill>
                  <a:schemeClr val="dk2"/>
                </a:solidFill>
              </a:rPr>
              <a:t>Maintain ProfitSword as reporting source. Automate reconciliation using AI to reduce manual review. Demonstrate ability to produce correct daily GL entries in Oracle, with audit traceability</a:t>
            </a:r>
            <a:endParaRPr i="0" sz="1600" u="none" cap="none" strike="noStrike">
              <a:solidFill>
                <a:schemeClr val="dk2"/>
              </a:solidFill>
            </a:endParaRPr>
          </a:p>
        </p:txBody>
      </p:sp>
      <p:sp>
        <p:nvSpPr>
          <p:cNvPr id="156" name="Google Shape;156;g378e6608c24_1_58"/>
          <p:cNvSpPr/>
          <p:nvPr/>
        </p:nvSpPr>
        <p:spPr>
          <a:xfrm>
            <a:off x="3430325" y="3405734"/>
            <a:ext cx="8340300" cy="1712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7" name="Google Shape;157;g378e6608c24_1_58"/>
          <p:cNvSpPr txBox="1"/>
          <p:nvPr/>
        </p:nvSpPr>
        <p:spPr>
          <a:xfrm>
            <a:off x="3576875" y="3491793"/>
            <a:ext cx="78561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AI Reconciliation Engine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AI engine for mapping PMS codes to Highgate GL codes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AI engines for </a:t>
            </a:r>
            <a:r>
              <a:rPr lang="en-US">
                <a:solidFill>
                  <a:schemeClr val="dk1"/>
                </a:solidFill>
              </a:rPr>
              <a:t>anomaly</a:t>
            </a:r>
            <a:r>
              <a:rPr lang="en-US">
                <a:solidFill>
                  <a:schemeClr val="dk1"/>
                </a:solidFill>
              </a:rPr>
              <a:t> detection and </a:t>
            </a:r>
            <a:r>
              <a:rPr lang="en-US">
                <a:solidFill>
                  <a:schemeClr val="dk1"/>
                </a:solidFill>
              </a:rPr>
              <a:t>flagging</a:t>
            </a:r>
            <a:r>
              <a:rPr lang="en-US">
                <a:solidFill>
                  <a:schemeClr val="dk1"/>
                </a:solidFill>
              </a:rPr>
              <a:t> mismatches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Oracle GL Posting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Automate transformation into 7-segment GL entry format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Integrate with Oracle ERP for daily posting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g378e6608c24_1_58"/>
          <p:cNvSpPr/>
          <p:nvPr/>
        </p:nvSpPr>
        <p:spPr>
          <a:xfrm>
            <a:off x="3440525" y="5286312"/>
            <a:ext cx="8340300" cy="88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9" name="Google Shape;159;g378e6608c24_1_58"/>
          <p:cNvSpPr txBox="1"/>
          <p:nvPr/>
        </p:nvSpPr>
        <p:spPr>
          <a:xfrm>
            <a:off x="3577499" y="5348086"/>
            <a:ext cx="78561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Audit and Controls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Generate daily audit support logs (inputs, mapping and </a:t>
            </a:r>
            <a:r>
              <a:rPr lang="en-US">
                <a:solidFill>
                  <a:schemeClr val="dk1"/>
                </a:solidFill>
              </a:rPr>
              <a:t>expectations</a:t>
            </a:r>
            <a:r>
              <a:rPr lang="en-U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Month-end MTD tie-out (PMS vs GL) Validation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" name="Google Shape;160;g378e6608c24_1_58"/>
          <p:cNvSpPr/>
          <p:nvPr/>
        </p:nvSpPr>
        <p:spPr>
          <a:xfrm>
            <a:off x="422275" y="1854050"/>
            <a:ext cx="2873100" cy="1448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1" name="Google Shape;161;g378e6608c24_1_58"/>
          <p:cNvSpPr txBox="1"/>
          <p:nvPr/>
        </p:nvSpPr>
        <p:spPr>
          <a:xfrm>
            <a:off x="585775" y="2293824"/>
            <a:ext cx="25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3 weeks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78e6608c24_1_58"/>
          <p:cNvSpPr/>
          <p:nvPr/>
        </p:nvSpPr>
        <p:spPr>
          <a:xfrm>
            <a:off x="422275" y="3415385"/>
            <a:ext cx="2873100" cy="1712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3" name="Google Shape;163;g378e6608c24_1_58"/>
          <p:cNvSpPr txBox="1"/>
          <p:nvPr/>
        </p:nvSpPr>
        <p:spPr>
          <a:xfrm>
            <a:off x="422275" y="4018554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4 weeks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78e6608c24_1_58"/>
          <p:cNvSpPr/>
          <p:nvPr/>
        </p:nvSpPr>
        <p:spPr>
          <a:xfrm>
            <a:off x="411200" y="5283050"/>
            <a:ext cx="2873100" cy="88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g378e6608c24_1_58"/>
          <p:cNvSpPr txBox="1"/>
          <p:nvPr/>
        </p:nvSpPr>
        <p:spPr>
          <a:xfrm>
            <a:off x="422902" y="5487123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3 weeks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8e6608c24_1_58"/>
          <p:cNvSpPr txBox="1"/>
          <p:nvPr/>
        </p:nvSpPr>
        <p:spPr>
          <a:xfrm>
            <a:off x="9958051" y="1392350"/>
            <a:ext cx="183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ETD: </a:t>
            </a:r>
            <a:r>
              <a:rPr lang="en-US" sz="1800">
                <a:solidFill>
                  <a:schemeClr val="dk2"/>
                </a:solidFill>
              </a:rPr>
              <a:t>10 weeks</a:t>
            </a:r>
            <a:endParaRPr i="0" sz="1800" u="none" cap="none" strike="noStrik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e446973b3_0_88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000">
                <a:solidFill>
                  <a:srgbClr val="CD071E"/>
                </a:solidFill>
              </a:rPr>
              <a:t>Depository Account Reconciliation - Minimum (MVP PoC)</a:t>
            </a:r>
            <a:endParaRPr b="0" i="0" sz="3000" u="none" cap="none" strike="noStrike">
              <a:solidFill>
                <a:srgbClr val="CD07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7e446973b3_0_88"/>
          <p:cNvSpPr/>
          <p:nvPr/>
        </p:nvSpPr>
        <p:spPr>
          <a:xfrm>
            <a:off x="3430325" y="1794242"/>
            <a:ext cx="8361600" cy="86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3" name="Google Shape;173;g37e446973b3_0_88"/>
          <p:cNvSpPr txBox="1"/>
          <p:nvPr/>
        </p:nvSpPr>
        <p:spPr>
          <a:xfrm>
            <a:off x="3576874" y="1833449"/>
            <a:ext cx="78561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7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Data Ingestion &amp; Normalization</a:t>
            </a:r>
            <a:endParaRPr sz="1300"/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Build ingestion pipelines for BAI bank feeds and Oracle GL extracts</a:t>
            </a:r>
            <a:endParaRPr sz="1300"/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Normalize across multiple banks (Fifth Third, Regions, SunTrust, Wells Fargo)</a:t>
            </a:r>
            <a:endParaRPr sz="1300"/>
          </a:p>
        </p:txBody>
      </p:sp>
      <p:sp>
        <p:nvSpPr>
          <p:cNvPr id="174" name="Google Shape;174;g37e446973b3_0_88"/>
          <p:cNvSpPr txBox="1"/>
          <p:nvPr/>
        </p:nvSpPr>
        <p:spPr>
          <a:xfrm>
            <a:off x="411194" y="1086242"/>
            <a:ext cx="946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Goal: </a:t>
            </a:r>
            <a:r>
              <a:rPr lang="en-US" sz="1600">
                <a:solidFill>
                  <a:schemeClr val="dk2"/>
                </a:solidFill>
              </a:rPr>
              <a:t>Shift BAI &amp; GL feeds into AI platform, achieve 100% auto-match, automate JE creation, and produce daily/monthly reconciliation with audit-ready support</a:t>
            </a:r>
            <a:endParaRPr i="0" sz="1600" u="none" cap="none" strike="noStrike">
              <a:solidFill>
                <a:schemeClr val="dk2"/>
              </a:solidFill>
            </a:endParaRPr>
          </a:p>
        </p:txBody>
      </p:sp>
      <p:sp>
        <p:nvSpPr>
          <p:cNvPr id="175" name="Google Shape;175;g37e446973b3_0_88"/>
          <p:cNvSpPr/>
          <p:nvPr/>
        </p:nvSpPr>
        <p:spPr>
          <a:xfrm>
            <a:off x="3430325" y="2774050"/>
            <a:ext cx="8340300" cy="857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6" name="Google Shape;176;g37e446973b3_0_88"/>
          <p:cNvSpPr txBox="1"/>
          <p:nvPr/>
        </p:nvSpPr>
        <p:spPr>
          <a:xfrm>
            <a:off x="3577500" y="2847869"/>
            <a:ext cx="78561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7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</a:rPr>
              <a:t>AI Matching Engine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Build AI Engine to e</a:t>
            </a:r>
            <a:r>
              <a:rPr lang="en-US" sz="1300">
                <a:solidFill>
                  <a:schemeClr val="dk1"/>
                </a:solidFill>
              </a:rPr>
              <a:t>nhance matching rules to push from 90% → 100% auto-match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Exception handling workflow for variances (unexplained or DITs)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7" name="Google Shape;177;g37e446973b3_0_88"/>
          <p:cNvSpPr/>
          <p:nvPr/>
        </p:nvSpPr>
        <p:spPr>
          <a:xfrm>
            <a:off x="3440525" y="3743682"/>
            <a:ext cx="8340300" cy="1544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g37e446973b3_0_88"/>
          <p:cNvSpPr txBox="1"/>
          <p:nvPr/>
        </p:nvSpPr>
        <p:spPr>
          <a:xfrm>
            <a:off x="3577499" y="3803043"/>
            <a:ext cx="78561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7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</a:rPr>
              <a:t>JE automation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Configure JE creation/posting for: Deposit in Transit, Daily Cash reconciliation variances, Bank fees/ credit card fees, sweep entries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R</a:t>
            </a:r>
            <a:r>
              <a:rPr lang="en-US" sz="1300">
                <a:solidFill>
                  <a:schemeClr val="dk1"/>
                </a:solidFill>
              </a:rPr>
              <a:t>eporting framework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Cover sheet with Bank Balance → Reconciling Items → GL Balance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Dashboard showing % matches by transaction type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9" name="Google Shape;179;g37e446973b3_0_88"/>
          <p:cNvSpPr/>
          <p:nvPr/>
        </p:nvSpPr>
        <p:spPr>
          <a:xfrm>
            <a:off x="422275" y="1794242"/>
            <a:ext cx="2873100" cy="86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g37e446973b3_0_88"/>
          <p:cNvSpPr txBox="1"/>
          <p:nvPr/>
        </p:nvSpPr>
        <p:spPr>
          <a:xfrm>
            <a:off x="574700" y="1994348"/>
            <a:ext cx="25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3</a:t>
            </a:r>
            <a:r>
              <a:rPr b="1" lang="en-US" sz="1800">
                <a:solidFill>
                  <a:schemeClr val="dk1"/>
                </a:solidFill>
              </a:rPr>
              <a:t> weeks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7e446973b3_0_88"/>
          <p:cNvSpPr/>
          <p:nvPr/>
        </p:nvSpPr>
        <p:spPr>
          <a:xfrm>
            <a:off x="422275" y="2778881"/>
            <a:ext cx="2873100" cy="857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g37e446973b3_0_88"/>
          <p:cNvSpPr txBox="1"/>
          <p:nvPr/>
        </p:nvSpPr>
        <p:spPr>
          <a:xfrm>
            <a:off x="422900" y="3018733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4 weeks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7e446973b3_0_88"/>
          <p:cNvSpPr/>
          <p:nvPr/>
        </p:nvSpPr>
        <p:spPr>
          <a:xfrm>
            <a:off x="411200" y="3738013"/>
            <a:ext cx="2873100" cy="1544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4" name="Google Shape;184;g37e446973b3_0_88"/>
          <p:cNvSpPr txBox="1"/>
          <p:nvPr/>
        </p:nvSpPr>
        <p:spPr>
          <a:xfrm>
            <a:off x="422902" y="4245817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2</a:t>
            </a:r>
            <a:r>
              <a:rPr b="1" lang="en-US" sz="1800">
                <a:solidFill>
                  <a:schemeClr val="dk1"/>
                </a:solidFill>
              </a:rPr>
              <a:t> weeks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7e446973b3_0_88"/>
          <p:cNvSpPr txBox="1"/>
          <p:nvPr/>
        </p:nvSpPr>
        <p:spPr>
          <a:xfrm>
            <a:off x="9946926" y="1228967"/>
            <a:ext cx="183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ETD: </a:t>
            </a:r>
            <a:r>
              <a:rPr lang="en-US" sz="1800">
                <a:solidFill>
                  <a:schemeClr val="dk2"/>
                </a:solidFill>
              </a:rPr>
              <a:t>10 weeks</a:t>
            </a:r>
            <a:endParaRPr i="0" sz="1800" u="none" cap="none" strike="noStrike">
              <a:solidFill>
                <a:schemeClr val="dk2"/>
              </a:solidFill>
            </a:endParaRPr>
          </a:p>
        </p:txBody>
      </p:sp>
      <p:sp>
        <p:nvSpPr>
          <p:cNvPr id="186" name="Google Shape;186;g37e446973b3_0_88"/>
          <p:cNvSpPr/>
          <p:nvPr/>
        </p:nvSpPr>
        <p:spPr>
          <a:xfrm>
            <a:off x="3429875" y="5381625"/>
            <a:ext cx="8340300" cy="906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7" name="Google Shape;187;g37e446973b3_0_88"/>
          <p:cNvSpPr txBox="1"/>
          <p:nvPr/>
        </p:nvSpPr>
        <p:spPr>
          <a:xfrm>
            <a:off x="3577050" y="5445470"/>
            <a:ext cx="78561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70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</a:rPr>
              <a:t>Audit &amp; Workflow Controls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Generate property/month reconciliation packages with attachments.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>
                <a:solidFill>
                  <a:schemeClr val="dk1"/>
                </a:solidFill>
              </a:rPr>
              <a:t>Workflow for reviewer/approver sign-off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88" name="Google Shape;188;g37e446973b3_0_88"/>
          <p:cNvSpPr/>
          <p:nvPr/>
        </p:nvSpPr>
        <p:spPr>
          <a:xfrm>
            <a:off x="421825" y="5386732"/>
            <a:ext cx="2873100" cy="906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9" name="Google Shape;189;g37e446973b3_0_88"/>
          <p:cNvSpPr txBox="1"/>
          <p:nvPr/>
        </p:nvSpPr>
        <p:spPr>
          <a:xfrm>
            <a:off x="422450" y="5616334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1</a:t>
            </a:r>
            <a:r>
              <a:rPr b="1" lang="en-US" sz="1800">
                <a:solidFill>
                  <a:schemeClr val="dk1"/>
                </a:solidFill>
              </a:rPr>
              <a:t> week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e62b0cad1_3_17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CD061D"/>
                </a:solidFill>
              </a:rPr>
              <a:t>Governance</a:t>
            </a:r>
            <a:r>
              <a:rPr lang="en-US" sz="3200">
                <a:solidFill>
                  <a:srgbClr val="CD061D"/>
                </a:solidFill>
              </a:rPr>
              <a:t> model</a:t>
            </a:r>
            <a:endParaRPr b="0" i="0" sz="32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7e62b0cad1_3_17"/>
          <p:cNvSpPr/>
          <p:nvPr/>
        </p:nvSpPr>
        <p:spPr>
          <a:xfrm>
            <a:off x="432950" y="1110375"/>
            <a:ext cx="11272800" cy="4910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2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6" name="Google Shape;196;g37e62b0cad1_3_17"/>
          <p:cNvSpPr txBox="1"/>
          <p:nvPr/>
        </p:nvSpPr>
        <p:spPr>
          <a:xfrm>
            <a:off x="576950" y="1334975"/>
            <a:ext cx="6934800" cy="43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87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US" sz="1600"/>
              <a:t>To discuss</a:t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-US" sz="1600"/>
              <a:t>Point of Contact(s) from Finantic and Highgate</a:t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Mode of Communication</a:t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PoC Success Criteria - Quantification of expected outcome</a:t>
            </a:r>
            <a:endParaRPr sz="1600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2387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US" sz="1600"/>
              <a:t>Scheduled Demos / Milestone meetings </a:t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Finantic to Highgate</a:t>
            </a:r>
            <a:endParaRPr sz="1600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Weekly Status Updates</a:t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Finantic to Highgate</a:t>
            </a:r>
            <a:endParaRPr sz="1600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SME contact (Highgate data expert)</a:t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Highgate to Finantic</a:t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Data exposure/inputs/clarifications</a:t>
            </a:r>
            <a:endParaRPr sz="1600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e62b0cad1_3_10"/>
          <p:cNvSpPr txBox="1"/>
          <p:nvPr>
            <p:ph type="title"/>
          </p:nvPr>
        </p:nvSpPr>
        <p:spPr>
          <a:xfrm>
            <a:off x="3601950" y="2543475"/>
            <a:ext cx="4988100" cy="8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D071E"/>
                </a:solidFill>
              </a:rPr>
              <a:t>Post PoC to Prod</a:t>
            </a:r>
            <a:endParaRPr sz="4800"/>
          </a:p>
        </p:txBody>
      </p:sp>
      <p:sp>
        <p:nvSpPr>
          <p:cNvPr id="203" name="Google Shape;203;g37e62b0cad1_3_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g37e62b0cad1_3_10"/>
          <p:cNvSpPr txBox="1"/>
          <p:nvPr>
            <p:ph idx="1" type="body"/>
          </p:nvPr>
        </p:nvSpPr>
        <p:spPr>
          <a:xfrm>
            <a:off x="831750" y="3380775"/>
            <a:ext cx="10960200" cy="52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/>
              <a:t>Parallel delivery for DIJ and Depository Account Reconciliation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e446973b3_0_45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000">
                <a:solidFill>
                  <a:srgbClr val="CD071E"/>
                </a:solidFill>
              </a:rPr>
              <a:t>Daily Income Journal - Medium (Post PoC to Prod)</a:t>
            </a:r>
            <a:endParaRPr sz="3000">
              <a:solidFill>
                <a:srgbClr val="CD071E"/>
              </a:solidFill>
            </a:endParaRPr>
          </a:p>
        </p:txBody>
      </p:sp>
      <p:sp>
        <p:nvSpPr>
          <p:cNvPr id="210" name="Google Shape;210;g37e446973b3_0_45"/>
          <p:cNvSpPr/>
          <p:nvPr/>
        </p:nvSpPr>
        <p:spPr>
          <a:xfrm>
            <a:off x="3430325" y="1755350"/>
            <a:ext cx="8361600" cy="1085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g37e446973b3_0_45"/>
          <p:cNvSpPr txBox="1"/>
          <p:nvPr/>
        </p:nvSpPr>
        <p:spPr>
          <a:xfrm>
            <a:off x="3576874" y="1859076"/>
            <a:ext cx="78561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/>
              <a:t>Platform Development &amp; Direct feeds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Build and host an AI reconciliation platform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Establish data pipeline integrations from PMS systems across all properties</a:t>
            </a:r>
            <a:endParaRPr/>
          </a:p>
        </p:txBody>
      </p:sp>
      <p:sp>
        <p:nvSpPr>
          <p:cNvPr id="212" name="Google Shape;212;g37e446973b3_0_45"/>
          <p:cNvSpPr txBox="1"/>
          <p:nvPr/>
        </p:nvSpPr>
        <p:spPr>
          <a:xfrm>
            <a:off x="411194" y="1146050"/>
            <a:ext cx="94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Goal: </a:t>
            </a:r>
            <a:r>
              <a:rPr lang="en-US" sz="1600">
                <a:solidFill>
                  <a:schemeClr val="dk2"/>
                </a:solidFill>
              </a:rPr>
              <a:t>Replace ProfitSword with AI platform, enable direct PMS feeds/SFTP, centralize reconciliation</a:t>
            </a:r>
            <a:endParaRPr i="0" sz="1600" u="none" cap="none" strike="noStrike">
              <a:solidFill>
                <a:schemeClr val="dk2"/>
              </a:solidFill>
            </a:endParaRPr>
          </a:p>
        </p:txBody>
      </p:sp>
      <p:sp>
        <p:nvSpPr>
          <p:cNvPr id="213" name="Google Shape;213;g37e446973b3_0_45"/>
          <p:cNvSpPr/>
          <p:nvPr/>
        </p:nvSpPr>
        <p:spPr>
          <a:xfrm>
            <a:off x="3430325" y="3076790"/>
            <a:ext cx="8340300" cy="1712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g37e446973b3_0_45"/>
          <p:cNvSpPr txBox="1"/>
          <p:nvPr/>
        </p:nvSpPr>
        <p:spPr>
          <a:xfrm>
            <a:off x="3576875" y="3162848"/>
            <a:ext cx="78561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Centralized mapping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Create unified mapping table repository (all properties)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Automate governance and change control for mappings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Reconciliation &amp; Automation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Scale AI reconciliation engine portfolio-wide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Automate daily GL entries and batch processing with exception handling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5" name="Google Shape;215;g37e446973b3_0_45"/>
          <p:cNvSpPr/>
          <p:nvPr/>
        </p:nvSpPr>
        <p:spPr>
          <a:xfrm>
            <a:off x="3440525" y="5007207"/>
            <a:ext cx="8340300" cy="88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6" name="Google Shape;216;g37e446973b3_0_45"/>
          <p:cNvSpPr txBox="1"/>
          <p:nvPr/>
        </p:nvSpPr>
        <p:spPr>
          <a:xfrm>
            <a:off x="3577499" y="5068981"/>
            <a:ext cx="78561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Controls &amp; Compliance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Standardize</a:t>
            </a:r>
            <a:r>
              <a:rPr lang="en-US">
                <a:solidFill>
                  <a:schemeClr val="dk1"/>
                </a:solidFill>
              </a:rPr>
              <a:t> month-end close controls (MTD tie-out, variance analysis)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Build dashboards for finance/audit teams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7" name="Google Shape;217;g37e446973b3_0_45"/>
          <p:cNvSpPr/>
          <p:nvPr/>
        </p:nvSpPr>
        <p:spPr>
          <a:xfrm>
            <a:off x="422275" y="1755350"/>
            <a:ext cx="2873100" cy="1085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8" name="Google Shape;218;g37e446973b3_0_45"/>
          <p:cNvSpPr txBox="1"/>
          <p:nvPr/>
        </p:nvSpPr>
        <p:spPr>
          <a:xfrm>
            <a:off x="585775" y="2064559"/>
            <a:ext cx="25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2 weeks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7e446973b3_0_45"/>
          <p:cNvSpPr/>
          <p:nvPr/>
        </p:nvSpPr>
        <p:spPr>
          <a:xfrm>
            <a:off x="422275" y="3086441"/>
            <a:ext cx="2873100" cy="17121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0" name="Google Shape;220;g37e446973b3_0_45"/>
          <p:cNvSpPr txBox="1"/>
          <p:nvPr/>
        </p:nvSpPr>
        <p:spPr>
          <a:xfrm>
            <a:off x="422275" y="3649738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3 weeks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7e446973b3_0_45"/>
          <p:cNvSpPr/>
          <p:nvPr/>
        </p:nvSpPr>
        <p:spPr>
          <a:xfrm>
            <a:off x="411200" y="5003945"/>
            <a:ext cx="2873100" cy="88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2" name="Google Shape;222;g37e446973b3_0_45"/>
          <p:cNvSpPr txBox="1"/>
          <p:nvPr/>
        </p:nvSpPr>
        <p:spPr>
          <a:xfrm>
            <a:off x="422902" y="5208019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1 week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7e446973b3_0_45"/>
          <p:cNvSpPr txBox="1"/>
          <p:nvPr/>
        </p:nvSpPr>
        <p:spPr>
          <a:xfrm>
            <a:off x="9946925" y="1059324"/>
            <a:ext cx="183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ETD: </a:t>
            </a:r>
            <a:r>
              <a:rPr lang="en-US" sz="1800">
                <a:solidFill>
                  <a:schemeClr val="dk2"/>
                </a:solidFill>
              </a:rPr>
              <a:t>7 weeks (after minimum)</a:t>
            </a:r>
            <a:endParaRPr i="0" sz="1800" u="none" cap="none" strike="noStrik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e446973b3_0_69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000">
                <a:solidFill>
                  <a:srgbClr val="CD071E"/>
                </a:solidFill>
              </a:rPr>
              <a:t>Daily Income Journal - Maximum (Post PoC to Prod)</a:t>
            </a:r>
            <a:endParaRPr sz="3000">
              <a:solidFill>
                <a:srgbClr val="CD07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000">
              <a:solidFill>
                <a:srgbClr val="CD071E"/>
              </a:solidFill>
            </a:endParaRPr>
          </a:p>
        </p:txBody>
      </p:sp>
      <p:sp>
        <p:nvSpPr>
          <p:cNvPr id="229" name="Google Shape;229;g37e446973b3_0_69"/>
          <p:cNvSpPr/>
          <p:nvPr/>
        </p:nvSpPr>
        <p:spPr>
          <a:xfrm>
            <a:off x="3430325" y="1755350"/>
            <a:ext cx="8361600" cy="1085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0" name="Google Shape;230;g37e446973b3_0_69"/>
          <p:cNvSpPr txBox="1"/>
          <p:nvPr/>
        </p:nvSpPr>
        <p:spPr>
          <a:xfrm>
            <a:off x="3576874" y="1879012"/>
            <a:ext cx="78561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/>
              <a:t>Enterprise-Wide Automation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Expand integrations to all PMS systems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Automate end-to-end data flow: PMS → AI platform → Oracle</a:t>
            </a:r>
            <a:endParaRPr/>
          </a:p>
        </p:txBody>
      </p:sp>
      <p:sp>
        <p:nvSpPr>
          <p:cNvPr id="231" name="Google Shape;231;g37e446973b3_0_69"/>
          <p:cNvSpPr txBox="1"/>
          <p:nvPr/>
        </p:nvSpPr>
        <p:spPr>
          <a:xfrm>
            <a:off x="411194" y="1066306"/>
            <a:ext cx="946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Goal: </a:t>
            </a:r>
            <a:r>
              <a:rPr lang="en-US" sz="1600">
                <a:solidFill>
                  <a:schemeClr val="dk2"/>
                </a:solidFill>
              </a:rPr>
              <a:t>Portfolio-wide full automation of DIJ process, evidence-backed revenue reporting, zero manual intervention</a:t>
            </a:r>
            <a:endParaRPr i="0" sz="1600" u="none" cap="none" strike="noStrike">
              <a:solidFill>
                <a:schemeClr val="dk2"/>
              </a:solidFill>
            </a:endParaRPr>
          </a:p>
        </p:txBody>
      </p:sp>
      <p:sp>
        <p:nvSpPr>
          <p:cNvPr id="232" name="Google Shape;232;g37e446973b3_0_69"/>
          <p:cNvSpPr/>
          <p:nvPr/>
        </p:nvSpPr>
        <p:spPr>
          <a:xfrm>
            <a:off x="3430325" y="3056851"/>
            <a:ext cx="8340300" cy="10794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3" name="Google Shape;233;g37e446973b3_0_69"/>
          <p:cNvSpPr txBox="1"/>
          <p:nvPr/>
        </p:nvSpPr>
        <p:spPr>
          <a:xfrm>
            <a:off x="3576875" y="3162848"/>
            <a:ext cx="78561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Advance AI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Self-learning reconciliation engine for adapting to new codes/mappings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Predictive </a:t>
            </a:r>
            <a:r>
              <a:rPr lang="en-US">
                <a:solidFill>
                  <a:schemeClr val="dk1"/>
                </a:solidFill>
              </a:rPr>
              <a:t>anomaly</a:t>
            </a:r>
            <a:r>
              <a:rPr lang="en-US">
                <a:solidFill>
                  <a:schemeClr val="dk1"/>
                </a:solidFill>
              </a:rPr>
              <a:t> detection to preempt error/delays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4" name="Google Shape;234;g37e446973b3_0_69"/>
          <p:cNvSpPr/>
          <p:nvPr/>
        </p:nvSpPr>
        <p:spPr>
          <a:xfrm>
            <a:off x="3440525" y="4294229"/>
            <a:ext cx="8340300" cy="1601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5" name="Google Shape;235;g37e446973b3_0_69"/>
          <p:cNvSpPr txBox="1"/>
          <p:nvPr/>
        </p:nvSpPr>
        <p:spPr>
          <a:xfrm>
            <a:off x="3577499" y="4462170"/>
            <a:ext cx="78561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>
                <a:solidFill>
                  <a:schemeClr val="dk1"/>
                </a:solidFill>
              </a:rPr>
              <a:t>Audit &amp; Compliance at Scale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Automated evidence packages for each entry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Enterprise reporting to satisfy revenue recognition and SOX/audit requirements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Change Management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Rollout Training and adoption across SS properties, FS properties and Metrique staff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g37e446973b3_0_69"/>
          <p:cNvSpPr/>
          <p:nvPr/>
        </p:nvSpPr>
        <p:spPr>
          <a:xfrm>
            <a:off x="422275" y="1755350"/>
            <a:ext cx="2873100" cy="1085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7" name="Google Shape;237;g37e446973b3_0_69"/>
          <p:cNvSpPr txBox="1"/>
          <p:nvPr/>
        </p:nvSpPr>
        <p:spPr>
          <a:xfrm>
            <a:off x="585775" y="2064559"/>
            <a:ext cx="25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3 weeks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7e446973b3_0_69"/>
          <p:cNvSpPr/>
          <p:nvPr/>
        </p:nvSpPr>
        <p:spPr>
          <a:xfrm>
            <a:off x="422275" y="3062935"/>
            <a:ext cx="2873100" cy="10794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9" name="Google Shape;239;g37e446973b3_0_69"/>
          <p:cNvSpPr txBox="1"/>
          <p:nvPr/>
        </p:nvSpPr>
        <p:spPr>
          <a:xfrm>
            <a:off x="422900" y="3333688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3 weeks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7e446973b3_0_69"/>
          <p:cNvSpPr/>
          <p:nvPr/>
        </p:nvSpPr>
        <p:spPr>
          <a:xfrm>
            <a:off x="411200" y="4288350"/>
            <a:ext cx="2873100" cy="1601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1" name="Google Shape;241;g37e446973b3_0_69"/>
          <p:cNvSpPr txBox="1"/>
          <p:nvPr/>
        </p:nvSpPr>
        <p:spPr>
          <a:xfrm>
            <a:off x="422902" y="4870344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2 weeks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7e446973b3_0_69"/>
          <p:cNvSpPr txBox="1"/>
          <p:nvPr/>
        </p:nvSpPr>
        <p:spPr>
          <a:xfrm>
            <a:off x="9878300" y="993000"/>
            <a:ext cx="189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ETD: </a:t>
            </a:r>
            <a:r>
              <a:rPr lang="en-US" sz="1800">
                <a:solidFill>
                  <a:schemeClr val="dk2"/>
                </a:solidFill>
              </a:rPr>
              <a:t>8</a:t>
            </a:r>
            <a:r>
              <a:rPr lang="en-US" sz="1800">
                <a:solidFill>
                  <a:schemeClr val="dk2"/>
                </a:solidFill>
              </a:rPr>
              <a:t> weeks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2"/>
                </a:solidFill>
              </a:rPr>
              <a:t>(after medium)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e446973b3_0_106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000">
                <a:solidFill>
                  <a:srgbClr val="CD071E"/>
                </a:solidFill>
              </a:rPr>
              <a:t>Depository Account Reconciliation - Medium</a:t>
            </a:r>
            <a:endParaRPr sz="3000">
              <a:solidFill>
                <a:srgbClr val="CD071E"/>
              </a:solidFill>
            </a:endParaRPr>
          </a:p>
        </p:txBody>
      </p:sp>
      <p:sp>
        <p:nvSpPr>
          <p:cNvPr id="248" name="Google Shape;248;g37e446973b3_0_106"/>
          <p:cNvSpPr/>
          <p:nvPr/>
        </p:nvSpPr>
        <p:spPr>
          <a:xfrm>
            <a:off x="3430325" y="1755350"/>
            <a:ext cx="8361600" cy="1085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9" name="Google Shape;249;g37e446973b3_0_106"/>
          <p:cNvSpPr txBox="1"/>
          <p:nvPr/>
        </p:nvSpPr>
        <p:spPr>
          <a:xfrm>
            <a:off x="3576874" y="1888980"/>
            <a:ext cx="78561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/>
              <a:t>Expansion Planning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Identify additional cash-related reconciliations across SS portfolio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Standardize feeds/interfaces (BAI or SFTP direct from processors)</a:t>
            </a:r>
            <a:endParaRPr/>
          </a:p>
        </p:txBody>
      </p:sp>
      <p:sp>
        <p:nvSpPr>
          <p:cNvPr id="250" name="Google Shape;250;g37e446973b3_0_106"/>
          <p:cNvSpPr txBox="1"/>
          <p:nvPr/>
        </p:nvSpPr>
        <p:spPr>
          <a:xfrm>
            <a:off x="411200" y="1035850"/>
            <a:ext cx="956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Goal: </a:t>
            </a:r>
            <a:r>
              <a:rPr lang="en-US" sz="1600">
                <a:solidFill>
                  <a:schemeClr val="dk2"/>
                </a:solidFill>
              </a:rPr>
              <a:t>Broaden scope beyond depository accounts to other cash reconciliations (credit card settlements, wires, petty cash, etc.)</a:t>
            </a:r>
            <a:endParaRPr i="0" sz="1600" u="none" cap="none" strike="noStrike">
              <a:solidFill>
                <a:schemeClr val="dk2"/>
              </a:solidFill>
            </a:endParaRPr>
          </a:p>
        </p:txBody>
      </p:sp>
      <p:sp>
        <p:nvSpPr>
          <p:cNvPr id="251" name="Google Shape;251;g37e446973b3_0_106"/>
          <p:cNvSpPr/>
          <p:nvPr/>
        </p:nvSpPr>
        <p:spPr>
          <a:xfrm>
            <a:off x="3430325" y="2957175"/>
            <a:ext cx="8340300" cy="19329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2" name="Google Shape;252;g37e446973b3_0_106"/>
          <p:cNvSpPr txBox="1"/>
          <p:nvPr/>
        </p:nvSpPr>
        <p:spPr>
          <a:xfrm>
            <a:off x="3530975" y="3032509"/>
            <a:ext cx="81390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AI Matching &amp; Variance Logic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Extend AI reconciliation rules to handle new transaction types (credit card batches, wire transfers)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Introduce categorization dashboards by transaction type</a:t>
            </a:r>
            <a:endParaRPr sz="1100">
              <a:solidFill>
                <a:schemeClr val="dk1"/>
              </a:solidFill>
            </a:endParaRPr>
          </a:p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Scalable JE Automation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Automate recurring entries for reconciliations (e.g., merchant fees, daily settlement variances).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g37e446973b3_0_106"/>
          <p:cNvSpPr/>
          <p:nvPr/>
        </p:nvSpPr>
        <p:spPr>
          <a:xfrm>
            <a:off x="3440525" y="5047499"/>
            <a:ext cx="8340300" cy="100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" name="Google Shape;254;g37e446973b3_0_106"/>
          <p:cNvSpPr txBox="1"/>
          <p:nvPr/>
        </p:nvSpPr>
        <p:spPr>
          <a:xfrm>
            <a:off x="3577499" y="5158694"/>
            <a:ext cx="78561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Audit &amp; Compliance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Enhanced property-level reconciliation support for all cash types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Workflow integration for multi-level approvals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g37e446973b3_0_106"/>
          <p:cNvSpPr/>
          <p:nvPr/>
        </p:nvSpPr>
        <p:spPr>
          <a:xfrm>
            <a:off x="422275" y="1755350"/>
            <a:ext cx="2873100" cy="1085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g37e446973b3_0_106"/>
          <p:cNvSpPr txBox="1"/>
          <p:nvPr/>
        </p:nvSpPr>
        <p:spPr>
          <a:xfrm>
            <a:off x="585775" y="2091484"/>
            <a:ext cx="25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2 weeks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7e446973b3_0_106"/>
          <p:cNvSpPr/>
          <p:nvPr/>
        </p:nvSpPr>
        <p:spPr>
          <a:xfrm>
            <a:off x="422275" y="2968070"/>
            <a:ext cx="2873100" cy="19329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g37e446973b3_0_106"/>
          <p:cNvSpPr txBox="1"/>
          <p:nvPr/>
        </p:nvSpPr>
        <p:spPr>
          <a:xfrm>
            <a:off x="422275" y="3530121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4</a:t>
            </a:r>
            <a:r>
              <a:rPr b="1" lang="en-US" sz="1800">
                <a:solidFill>
                  <a:schemeClr val="dk1"/>
                </a:solidFill>
              </a:rPr>
              <a:t> weeks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7e446973b3_0_106"/>
          <p:cNvSpPr/>
          <p:nvPr/>
        </p:nvSpPr>
        <p:spPr>
          <a:xfrm>
            <a:off x="411200" y="5043817"/>
            <a:ext cx="2873100" cy="100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0" name="Google Shape;260;g37e446973b3_0_106"/>
          <p:cNvSpPr txBox="1"/>
          <p:nvPr/>
        </p:nvSpPr>
        <p:spPr>
          <a:xfrm>
            <a:off x="422902" y="5377475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2 weeks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7e446973b3_0_106"/>
          <p:cNvSpPr txBox="1"/>
          <p:nvPr/>
        </p:nvSpPr>
        <p:spPr>
          <a:xfrm>
            <a:off x="9936726" y="997985"/>
            <a:ext cx="183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ETD: </a:t>
            </a:r>
            <a:r>
              <a:rPr lang="en-US" sz="1800">
                <a:solidFill>
                  <a:schemeClr val="dk2"/>
                </a:solidFill>
              </a:rPr>
              <a:t>8</a:t>
            </a:r>
            <a:r>
              <a:rPr lang="en-US" sz="1800">
                <a:solidFill>
                  <a:schemeClr val="dk2"/>
                </a:solidFill>
              </a:rPr>
              <a:t> weeks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2"/>
                </a:solidFill>
              </a:rPr>
              <a:t>(after minimum)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e446973b3_0_124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000">
                <a:solidFill>
                  <a:srgbClr val="CD071E"/>
                </a:solidFill>
              </a:rPr>
              <a:t>Depository Account Reconciliation - Maximum</a:t>
            </a:r>
            <a:endParaRPr sz="3000">
              <a:solidFill>
                <a:srgbClr val="CD071E"/>
              </a:solidFill>
            </a:endParaRPr>
          </a:p>
        </p:txBody>
      </p:sp>
      <p:sp>
        <p:nvSpPr>
          <p:cNvPr id="267" name="Google Shape;267;g37e446973b3_0_124"/>
          <p:cNvSpPr/>
          <p:nvPr/>
        </p:nvSpPr>
        <p:spPr>
          <a:xfrm>
            <a:off x="3430325" y="1755350"/>
            <a:ext cx="8361600" cy="927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g37e446973b3_0_124"/>
          <p:cNvSpPr txBox="1"/>
          <p:nvPr/>
        </p:nvSpPr>
        <p:spPr>
          <a:xfrm>
            <a:off x="3576875" y="1829175"/>
            <a:ext cx="82152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Platform Replacement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Migrate all reconciliation processes from Blackline into AI platform (AP, AR, Fixed Assets, Accruals, etc.)</a:t>
            </a:r>
            <a:endParaRPr/>
          </a:p>
        </p:txBody>
      </p:sp>
      <p:sp>
        <p:nvSpPr>
          <p:cNvPr id="269" name="Google Shape;269;g37e446973b3_0_124"/>
          <p:cNvSpPr txBox="1"/>
          <p:nvPr/>
        </p:nvSpPr>
        <p:spPr>
          <a:xfrm>
            <a:off x="411200" y="1066300"/>
            <a:ext cx="930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Goal: </a:t>
            </a:r>
            <a:r>
              <a:rPr lang="en-US" sz="1600">
                <a:solidFill>
                  <a:schemeClr val="dk2"/>
                </a:solidFill>
              </a:rPr>
              <a:t>Replace Blackline entirely, covering all balance sheet reconciliations (not just cash) within the AI platform</a:t>
            </a:r>
            <a:endParaRPr i="0" sz="1600" u="none" cap="none" strike="noStrike">
              <a:solidFill>
                <a:schemeClr val="dk2"/>
              </a:solidFill>
            </a:endParaRPr>
          </a:p>
        </p:txBody>
      </p:sp>
      <p:sp>
        <p:nvSpPr>
          <p:cNvPr id="270" name="Google Shape;270;g37e446973b3_0_124"/>
          <p:cNvSpPr/>
          <p:nvPr/>
        </p:nvSpPr>
        <p:spPr>
          <a:xfrm>
            <a:off x="3430325" y="2819176"/>
            <a:ext cx="8340300" cy="1632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1" name="Google Shape;271;g37e446973b3_0_124"/>
          <p:cNvSpPr txBox="1"/>
          <p:nvPr/>
        </p:nvSpPr>
        <p:spPr>
          <a:xfrm>
            <a:off x="3614975" y="2904313"/>
            <a:ext cx="81390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Enterprise-Wide AI Matching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Extend AI reconciliation beyond cash: intercompany, accruals, liabilities.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Embed predictive anomaly detection for proactive fraud risk management.</a:t>
            </a:r>
            <a:endParaRPr>
              <a:solidFill>
                <a:schemeClr val="dk1"/>
              </a:solidFill>
            </a:endParaRPr>
          </a:p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JE Automation at Scale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End-to-end automation of all recurring and exception-driven JEs across balance sheet accounts.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2" name="Google Shape;272;g37e446973b3_0_124"/>
          <p:cNvSpPr/>
          <p:nvPr/>
        </p:nvSpPr>
        <p:spPr>
          <a:xfrm>
            <a:off x="3440525" y="4588000"/>
            <a:ext cx="8340300" cy="173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3" name="Google Shape;273;g37e446973b3_0_124"/>
          <p:cNvSpPr txBox="1"/>
          <p:nvPr/>
        </p:nvSpPr>
        <p:spPr>
          <a:xfrm>
            <a:off x="3577499" y="4691434"/>
            <a:ext cx="78561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Audit &amp; Reporting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Unified audit trail for all reconciliations.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Enterprise dashboards (time-to-certify, auto-match %, headcount savings).</a:t>
            </a:r>
            <a:endParaRPr>
              <a:solidFill>
                <a:schemeClr val="dk1"/>
              </a:solidFill>
            </a:endParaRPr>
          </a:p>
          <a:p>
            <a:pPr indent="-226058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Change Management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Phased rollout across properties, decommissioning Blackline.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Training finance staff, updating policies/procedures.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4" name="Google Shape;274;g37e446973b3_0_124"/>
          <p:cNvSpPr/>
          <p:nvPr/>
        </p:nvSpPr>
        <p:spPr>
          <a:xfrm>
            <a:off x="422275" y="1755350"/>
            <a:ext cx="2873100" cy="927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5" name="Google Shape;275;g37e446973b3_0_124"/>
          <p:cNvSpPr txBox="1"/>
          <p:nvPr/>
        </p:nvSpPr>
        <p:spPr>
          <a:xfrm>
            <a:off x="585775" y="2014719"/>
            <a:ext cx="25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3</a:t>
            </a:r>
            <a:r>
              <a:rPr b="1" lang="en-US" sz="1800">
                <a:solidFill>
                  <a:schemeClr val="dk1"/>
                </a:solidFill>
              </a:rPr>
              <a:t> weeks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7e446973b3_0_124"/>
          <p:cNvSpPr/>
          <p:nvPr/>
        </p:nvSpPr>
        <p:spPr>
          <a:xfrm>
            <a:off x="422275" y="2827700"/>
            <a:ext cx="2873100" cy="1601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g37e446973b3_0_124"/>
          <p:cNvSpPr txBox="1"/>
          <p:nvPr/>
        </p:nvSpPr>
        <p:spPr>
          <a:xfrm>
            <a:off x="422900" y="3446872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2 </a:t>
            </a:r>
            <a:r>
              <a:rPr b="1" lang="en-US" sz="1800">
                <a:solidFill>
                  <a:schemeClr val="dk1"/>
                </a:solidFill>
              </a:rPr>
              <a:t>weeks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7e446973b3_0_124"/>
          <p:cNvSpPr/>
          <p:nvPr/>
        </p:nvSpPr>
        <p:spPr>
          <a:xfrm>
            <a:off x="411200" y="4588000"/>
            <a:ext cx="2873100" cy="1730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g37e446973b3_0_124"/>
          <p:cNvSpPr txBox="1"/>
          <p:nvPr/>
        </p:nvSpPr>
        <p:spPr>
          <a:xfrm>
            <a:off x="422902" y="5298969"/>
            <a:ext cx="28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2</a:t>
            </a:r>
            <a:r>
              <a:rPr b="1" lang="en-US" sz="1800">
                <a:solidFill>
                  <a:schemeClr val="dk1"/>
                </a:solidFill>
              </a:rPr>
              <a:t> weeks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7e446973b3_0_124"/>
          <p:cNvSpPr txBox="1"/>
          <p:nvPr/>
        </p:nvSpPr>
        <p:spPr>
          <a:xfrm>
            <a:off x="9861575" y="1016450"/>
            <a:ext cx="189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ETD: </a:t>
            </a:r>
            <a:r>
              <a:rPr lang="en-US" sz="1800">
                <a:solidFill>
                  <a:schemeClr val="dk2"/>
                </a:solidFill>
              </a:rPr>
              <a:t>7</a:t>
            </a:r>
            <a:r>
              <a:rPr lang="en-US" sz="1800">
                <a:solidFill>
                  <a:schemeClr val="dk2"/>
                </a:solidFill>
              </a:rPr>
              <a:t> weeks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2"/>
                </a:solidFill>
              </a:rPr>
              <a:t>(after medium)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8e6608c24_1_65"/>
          <p:cNvSpPr txBox="1"/>
          <p:nvPr/>
        </p:nvSpPr>
        <p:spPr>
          <a:xfrm>
            <a:off x="4645500" y="3075000"/>
            <a:ext cx="2901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D314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4000" u="none" cap="none" strike="noStrike">
              <a:solidFill>
                <a:srgbClr val="D314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e62b0cad1_3_23"/>
          <p:cNvSpPr txBox="1"/>
          <p:nvPr/>
        </p:nvSpPr>
        <p:spPr>
          <a:xfrm>
            <a:off x="4920600" y="3075000"/>
            <a:ext cx="235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D31400"/>
                </a:solidFill>
              </a:rPr>
              <a:t>Appendix</a:t>
            </a:r>
            <a:endParaRPr b="0" i="0" sz="4000" u="none" cap="none" strike="noStrike">
              <a:solidFill>
                <a:srgbClr val="D314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8e6608c24_1_28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000" u="none" cap="none" strike="noStrike">
                <a:solidFill>
                  <a:srgbClr val="CD061D"/>
                </a:solidFill>
                <a:latin typeface="Arial"/>
                <a:ea typeface="Arial"/>
                <a:cs typeface="Arial"/>
                <a:sym typeface="Arial"/>
              </a:rPr>
              <a:t>Where AI Will Be Used &amp; How </a:t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78e6608c24_1_28"/>
          <p:cNvSpPr/>
          <p:nvPr/>
        </p:nvSpPr>
        <p:spPr>
          <a:xfrm>
            <a:off x="442925" y="1094500"/>
            <a:ext cx="3599100" cy="5198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7" name="Google Shape;297;g378e6608c24_1_28"/>
          <p:cNvSpPr/>
          <p:nvPr/>
        </p:nvSpPr>
        <p:spPr>
          <a:xfrm>
            <a:off x="4289886" y="1094500"/>
            <a:ext cx="3599100" cy="51984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8" name="Google Shape;298;g378e6608c24_1_28"/>
          <p:cNvSpPr/>
          <p:nvPr/>
        </p:nvSpPr>
        <p:spPr>
          <a:xfrm>
            <a:off x="8213046" y="1070688"/>
            <a:ext cx="3599100" cy="5198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9" name="Google Shape;299;g378e6608c24_1_28"/>
          <p:cNvSpPr txBox="1"/>
          <p:nvPr/>
        </p:nvSpPr>
        <p:spPr>
          <a:xfrm>
            <a:off x="687725" y="1252375"/>
            <a:ext cx="3150600" cy="4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Code-to-GL Mapping Recommender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Inconsistent PMS code → GL mapping.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Role: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model suggests GL accounts with confidence scores &amp; explanations.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manual mapping errors, centralizes governance.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78e6608c24_1_28"/>
          <p:cNvSpPr txBox="1"/>
          <p:nvPr/>
        </p:nvSpPr>
        <p:spPr>
          <a:xfrm>
            <a:off x="4552238" y="1252375"/>
            <a:ext cx="3150600" cy="4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Segmentation Normalizer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Free-text segment labels (e.g., “SummerPromo”, “WinterPromo” —-&gt; Seasonal Discounts).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Role: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LLM/sequence tagging normalizes to enterprise - approved segments.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Standardized reporting across properties.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78e6608c24_1_28"/>
          <p:cNvSpPr txBox="1"/>
          <p:nvPr/>
        </p:nvSpPr>
        <p:spPr>
          <a:xfrm>
            <a:off x="8416775" y="1252375"/>
            <a:ext cx="3150600" cy="5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Anomaly &amp; Balance Detection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Errors, fraud, or missing files in DIJ &amp; reconciliations.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Role: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forecasting (Prophet/ETS) → detect outliers.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Unsupervised ML (Autoencoder/Isolation Forest) → detect unusual revenue/tender splits.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Rule-based checks (totals match, zero/negative guards).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detection of mismatches before posting to ERP.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8e598e889_2_54"/>
          <p:cNvSpPr txBox="1"/>
          <p:nvPr/>
        </p:nvSpPr>
        <p:spPr>
          <a:xfrm>
            <a:off x="422911" y="346710"/>
            <a:ext cx="112929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000" u="none" cap="none" strike="noStrike">
                <a:solidFill>
                  <a:srgbClr val="CD061D"/>
                </a:solidFill>
                <a:latin typeface="Arial"/>
                <a:ea typeface="Arial"/>
                <a:cs typeface="Arial"/>
                <a:sym typeface="Arial"/>
              </a:rPr>
              <a:t>Where AI Will Be Used &amp; How ( Contd…) </a:t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CD0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78e598e889_2_54"/>
          <p:cNvSpPr/>
          <p:nvPr/>
        </p:nvSpPr>
        <p:spPr>
          <a:xfrm>
            <a:off x="442925" y="1094500"/>
            <a:ext cx="3599100" cy="5198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8" name="Google Shape;308;g378e598e889_2_54"/>
          <p:cNvSpPr/>
          <p:nvPr/>
        </p:nvSpPr>
        <p:spPr>
          <a:xfrm>
            <a:off x="4289886" y="1094500"/>
            <a:ext cx="3599100" cy="51984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9" name="Google Shape;309;g378e598e889_2_54"/>
          <p:cNvSpPr txBox="1"/>
          <p:nvPr/>
        </p:nvSpPr>
        <p:spPr>
          <a:xfrm>
            <a:off x="687725" y="1252375"/>
            <a:ext cx="3150600" cy="4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Evidence &amp; Attachment Pipeline</a:t>
            </a:r>
            <a:b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Role: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OCR + LLM explanations for Z-reports/PDFs.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JE line has proof &amp; narrative → strengthens audit trail.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78e598e889_2_54"/>
          <p:cNvSpPr txBox="1"/>
          <p:nvPr/>
        </p:nvSpPr>
        <p:spPr>
          <a:xfrm>
            <a:off x="4552238" y="1252375"/>
            <a:ext cx="3150600" cy="4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f) Exceptions Management &amp; Root Cause Reasoner</a:t>
            </a:r>
            <a:br>
              <a:rPr b="1" lang="en-US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AI Role: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Using Knowledge Graphs map exceptions to known root causes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Using graph data AI identifies exceptions and root causes to solve using the right tools</a:t>
            </a:r>
            <a:endParaRPr b="1"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2013-07-15T20:26:00Z</dcterms:created>
  <dc:creator>Admin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6434F3684A4C4694A36A3997C72102DD_13</vt:lpwstr>
  </property>
  <property fmtid="{D5CDD505-2E9C-101B-9397-08002B2CF9AE}" pid="3" name="KSOProductBuildVer">
    <vt:lpwstr>1033-12.2.0.21931</vt:lpwstr>
  </property>
</Properties>
</file>